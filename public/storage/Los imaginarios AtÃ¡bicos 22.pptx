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sin título" id="{F9D888F2-22F3-48EE-9266-BE9D2A01D5CA}">
          <p14:sldIdLst>
            <p14:sldId id="256"/>
            <p14:sldId id="257"/>
            <p14:sldId id="258"/>
            <p14:sldId id="259"/>
            <p14:sldId id="26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6 Triángulo isósceles"/>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540544" y="776288"/>
            <a:ext cx="8062912" cy="1470025"/>
          </a:xfrm>
        </p:spPr>
        <p:txBody>
          <a:bodyPr anchor="b">
            <a:normAutofit/>
          </a:bodyPr>
          <a:lstStyle>
            <a:lvl1pPr algn="r">
              <a:defRPr sz="4400"/>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a:xfrm>
            <a:off x="1371600" y="6012656"/>
            <a:ext cx="5791200" cy="365125"/>
          </a:xfrm>
        </p:spPr>
        <p:txBody>
          <a:bodyPr tIns="0" bIns="0" anchor="t"/>
          <a:lstStyle>
            <a:lvl1pPr algn="r">
              <a:defRPr sz="1000"/>
            </a:lvl1pPr>
          </a:lstStyle>
          <a:p>
            <a:fld id="{EF55604B-4E3D-439B-BA5C-BFF5EB7A5C35}" type="datetimeFigureOut">
              <a:rPr lang="es-CO" smtClean="0"/>
              <a:t>10/02/2016</a:t>
            </a:fld>
            <a:endParaRPr lang="es-CO"/>
          </a:p>
        </p:txBody>
      </p:sp>
      <p:sp>
        <p:nvSpPr>
          <p:cNvPr id="17" name="16 Marcador de pie de página"/>
          <p:cNvSpPr>
            <a:spLocks noGrp="1"/>
          </p:cNvSpPr>
          <p:nvPr>
            <p:ph type="ftr" sz="quarter" idx="11"/>
          </p:nvPr>
        </p:nvSpPr>
        <p:spPr>
          <a:xfrm>
            <a:off x="1371600" y="5650704"/>
            <a:ext cx="5791200" cy="365125"/>
          </a:xfrm>
        </p:spPr>
        <p:txBody>
          <a:bodyPr tIns="0" bIns="0" anchor="b"/>
          <a:lstStyle>
            <a:lvl1pPr algn="r">
              <a:defRPr sz="1100"/>
            </a:lvl1pPr>
          </a:lstStyle>
          <a:p>
            <a:endParaRPr lang="es-CO"/>
          </a:p>
        </p:txBody>
      </p:sp>
      <p:sp>
        <p:nvSpPr>
          <p:cNvPr id="29" name="28 Marcador de número de diapositiva"/>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4EFE3146-159E-49AF-8992-87F6BCDB602E}" type="slidenum">
              <a:rPr lang="es-CO" smtClean="0"/>
              <a:t>‹Nº›</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399032"/>
          </a:xfrm>
        </p:spPr>
        <p:txBody>
          <a:body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a:xfrm>
            <a:off x="457200" y="1882808"/>
            <a:ext cx="8229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a:xfrm>
            <a:off x="4791456" y="6480048"/>
            <a:ext cx="2133600" cy="301752"/>
          </a:xfrm>
        </p:spPr>
        <p:txBody>
          <a:bodyPr/>
          <a:lstStyle/>
          <a:p>
            <a:fld id="{EF55604B-4E3D-439B-BA5C-BFF5EB7A5C35}" type="datetimeFigureOut">
              <a:rPr lang="es-CO" smtClean="0"/>
              <a:t>10/02/2016</a:t>
            </a:fld>
            <a:endParaRPr lang="es-CO"/>
          </a:p>
        </p:txBody>
      </p:sp>
      <p:sp>
        <p:nvSpPr>
          <p:cNvPr id="5" name="4 Marcador de pie de página"/>
          <p:cNvSpPr>
            <a:spLocks noGrp="1"/>
          </p:cNvSpPr>
          <p:nvPr>
            <p:ph type="ftr" sz="quarter" idx="11"/>
          </p:nvPr>
        </p:nvSpPr>
        <p:spPr>
          <a:xfrm>
            <a:off x="457200" y="6480969"/>
            <a:ext cx="4260056" cy="300831"/>
          </a:xfrm>
        </p:spPr>
        <p:txBody>
          <a:bodyPr/>
          <a:lstStyle/>
          <a:p>
            <a:endParaRPr lang="es-CO"/>
          </a:p>
        </p:txBody>
      </p:sp>
      <p:sp>
        <p:nvSpPr>
          <p:cNvPr id="6" name="5 Marcador de número de diapositiva"/>
          <p:cNvSpPr>
            <a:spLocks noGrp="1"/>
          </p:cNvSpPr>
          <p:nvPr>
            <p:ph type="sldNum" sz="quarter" idx="12"/>
          </p:nvPr>
        </p:nvSpPr>
        <p:spPr/>
        <p:txBody>
          <a:bodyPr/>
          <a:lstStyle/>
          <a:p>
            <a:fld id="{4EFE3146-159E-49AF-8992-87F6BCDB602E}" type="slidenum">
              <a:rPr lang="es-CO" smtClean="0"/>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2">
        <a:schemeClr val="bg1"/>
      </p:bgRef>
    </p:bg>
    <p:spTree>
      <p:nvGrpSpPr>
        <p:cNvPr id="1" name=""/>
        <p:cNvGrpSpPr/>
        <p:nvPr/>
      </p:nvGrpSpPr>
      <p:grpSpPr>
        <a:xfrm>
          <a:off x="0" y="0"/>
          <a:ext cx="0" cy="0"/>
          <a:chOff x="0" y="0"/>
          <a:chExt cx="0" cy="0"/>
        </a:xfrm>
      </p:grpSpPr>
      <p:sp>
        <p:nvSpPr>
          <p:cNvPr id="9" name="8 Triángulo rectángulo"/>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7 Triángulo isósceles"/>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3 Marcador de fecha"/>
          <p:cNvSpPr>
            <a:spLocks noGrp="1"/>
          </p:cNvSpPr>
          <p:nvPr>
            <p:ph type="dt" sz="half" idx="10"/>
          </p:nvPr>
        </p:nvSpPr>
        <p:spPr>
          <a:xfrm>
            <a:off x="6955632" y="6477000"/>
            <a:ext cx="2133600" cy="304800"/>
          </a:xfrm>
        </p:spPr>
        <p:txBody>
          <a:bodyPr/>
          <a:lstStyle/>
          <a:p>
            <a:fld id="{EF55604B-4E3D-439B-BA5C-BFF5EB7A5C35}" type="datetimeFigureOut">
              <a:rPr lang="es-CO" smtClean="0"/>
              <a:t>10/02/2016</a:t>
            </a:fld>
            <a:endParaRPr lang="es-CO"/>
          </a:p>
        </p:txBody>
      </p:sp>
      <p:sp>
        <p:nvSpPr>
          <p:cNvPr id="5" name="4 Marcador de pie de página"/>
          <p:cNvSpPr>
            <a:spLocks noGrp="1"/>
          </p:cNvSpPr>
          <p:nvPr>
            <p:ph type="ftr" sz="quarter" idx="11"/>
          </p:nvPr>
        </p:nvSpPr>
        <p:spPr>
          <a:xfrm>
            <a:off x="2619376" y="6480969"/>
            <a:ext cx="4260056" cy="300831"/>
          </a:xfrm>
        </p:spPr>
        <p:txBody>
          <a:bodyPr/>
          <a:lstStyle/>
          <a:p>
            <a:endParaRPr lang="es-CO"/>
          </a:p>
        </p:txBody>
      </p:sp>
      <p:sp>
        <p:nvSpPr>
          <p:cNvPr id="6" name="5 Marcador de número de diapositiva"/>
          <p:cNvSpPr>
            <a:spLocks noGrp="1"/>
          </p:cNvSpPr>
          <p:nvPr>
            <p:ph type="sldNum" sz="quarter" idx="12"/>
          </p:nvPr>
        </p:nvSpPr>
        <p:spPr>
          <a:xfrm>
            <a:off x="8451056" y="809624"/>
            <a:ext cx="502920" cy="300831"/>
          </a:xfrm>
        </p:spPr>
        <p:txBody>
          <a:bodyPr/>
          <a:lstStyle/>
          <a:p>
            <a:fld id="{4EFE3146-159E-49AF-8992-87F6BCDB602E}" type="slidenum">
              <a:rPr lang="es-CO" smtClean="0"/>
              <a:t>‹Nº›</a:t>
            </a:fld>
            <a:endParaRPr lang="es-CO"/>
          </a:p>
        </p:txBody>
      </p:sp>
      <p:cxnSp>
        <p:nvCxnSpPr>
          <p:cNvPr id="11" name="10 Conector recto"/>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9 Conector recto"/>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1 Título"/>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marL="0" algn="l">
              <a:defRPr/>
            </a:lvl1p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4791456" y="6480969"/>
            <a:ext cx="2133600" cy="301752"/>
          </a:xfrm>
        </p:spPr>
        <p:txBody>
          <a:bodyPr/>
          <a:lstStyle/>
          <a:p>
            <a:fld id="{EF55604B-4E3D-439B-BA5C-BFF5EB7A5C35}" type="datetimeFigureOut">
              <a:rPr lang="es-CO" smtClean="0"/>
              <a:t>10/02/2016</a:t>
            </a:fld>
            <a:endParaRPr lang="es-CO"/>
          </a:p>
        </p:txBody>
      </p:sp>
      <p:sp>
        <p:nvSpPr>
          <p:cNvPr id="6" name="5 Marcador de pie de página"/>
          <p:cNvSpPr>
            <a:spLocks noGrp="1"/>
          </p:cNvSpPr>
          <p:nvPr>
            <p:ph type="ftr" sz="quarter" idx="11"/>
          </p:nvPr>
        </p:nvSpPr>
        <p:spPr>
          <a:xfrm>
            <a:off x="457200" y="6480969"/>
            <a:ext cx="4260056" cy="301752"/>
          </a:xfrm>
        </p:spPr>
        <p:txBody>
          <a:bodyPr/>
          <a:lstStyle/>
          <a:p>
            <a:endParaRPr lang="es-CO"/>
          </a:p>
        </p:txBody>
      </p:sp>
      <p:sp>
        <p:nvSpPr>
          <p:cNvPr id="7" name="6 Marcador de número de diapositiva"/>
          <p:cNvSpPr>
            <a:spLocks noGrp="1"/>
          </p:cNvSpPr>
          <p:nvPr>
            <p:ph type="sldNum" sz="quarter" idx="12"/>
          </p:nvPr>
        </p:nvSpPr>
        <p:spPr>
          <a:xfrm>
            <a:off x="7589520" y="6480969"/>
            <a:ext cx="502920" cy="301752"/>
          </a:xfrm>
        </p:spPr>
        <p:txBody>
          <a:bodyPr/>
          <a:lstStyle/>
          <a:p>
            <a:fld id="{4EFE3146-159E-49AF-8992-87F6BCDB602E}" type="slidenum">
              <a:rPr lang="es-CO" smtClean="0"/>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a:xfrm>
            <a:off x="4791456" y="6480969"/>
            <a:ext cx="2130552" cy="301752"/>
          </a:xfrm>
        </p:spPr>
        <p:txBody>
          <a:bodyPr/>
          <a:lstStyle/>
          <a:p>
            <a:fld id="{EF55604B-4E3D-439B-BA5C-BFF5EB7A5C35}" type="datetimeFigureOut">
              <a:rPr lang="es-CO" smtClean="0"/>
              <a:t>10/02/2016</a:t>
            </a:fld>
            <a:endParaRPr lang="es-CO"/>
          </a:p>
        </p:txBody>
      </p:sp>
      <p:sp>
        <p:nvSpPr>
          <p:cNvPr id="8" name="7 Marcador de pie de página"/>
          <p:cNvSpPr>
            <a:spLocks noGrp="1"/>
          </p:cNvSpPr>
          <p:nvPr>
            <p:ph type="ftr" sz="quarter" idx="11"/>
          </p:nvPr>
        </p:nvSpPr>
        <p:spPr>
          <a:xfrm>
            <a:off x="457200" y="6480969"/>
            <a:ext cx="4261104" cy="301752"/>
          </a:xfrm>
        </p:spPr>
        <p:txBody>
          <a:bodyPr/>
          <a:lstStyle/>
          <a:p>
            <a:endParaRPr lang="es-CO"/>
          </a:p>
        </p:txBody>
      </p:sp>
      <p:sp>
        <p:nvSpPr>
          <p:cNvPr id="9" name="8 Marcador de número de diapositiva"/>
          <p:cNvSpPr>
            <a:spLocks noGrp="1"/>
          </p:cNvSpPr>
          <p:nvPr>
            <p:ph type="sldNum" sz="quarter" idx="12"/>
          </p:nvPr>
        </p:nvSpPr>
        <p:spPr>
          <a:xfrm>
            <a:off x="7589520" y="6483096"/>
            <a:ext cx="502920" cy="301752"/>
          </a:xfrm>
        </p:spPr>
        <p:txBody>
          <a:bodyPr/>
          <a:lstStyle>
            <a:lvl1pPr algn="ctr">
              <a:defRPr/>
            </a:lvl1pPr>
          </a:lstStyle>
          <a:p>
            <a:fld id="{4EFE3146-159E-49AF-8992-87F6BCDB602E}" type="slidenum">
              <a:rPr lang="es-CO" smtClean="0"/>
              <a:t>‹Nº›</a:t>
            </a:fld>
            <a:endParaRPr lang="es-CO"/>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b="0"/>
            </a:lvl1p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EF55604B-4E3D-439B-BA5C-BFF5EB7A5C35}" type="datetimeFigureOut">
              <a:rPr lang="es-CO" smtClean="0"/>
              <a:t>10/02/2016</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4EFE3146-159E-49AF-8992-87F6BCDB602E}" type="slidenum">
              <a:rPr lang="es-CO" smtClean="0"/>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a:xfrm>
            <a:off x="4791456" y="6480969"/>
            <a:ext cx="2133600" cy="301752"/>
          </a:xfrm>
        </p:spPr>
        <p:txBody>
          <a:bodyPr/>
          <a:lstStyle/>
          <a:p>
            <a:fld id="{EF55604B-4E3D-439B-BA5C-BFF5EB7A5C35}" type="datetimeFigureOut">
              <a:rPr lang="es-CO" smtClean="0"/>
              <a:t>10/02/2016</a:t>
            </a:fld>
            <a:endParaRPr lang="es-CO"/>
          </a:p>
        </p:txBody>
      </p:sp>
      <p:sp>
        <p:nvSpPr>
          <p:cNvPr id="3" name="2 Marcador de pie de página"/>
          <p:cNvSpPr>
            <a:spLocks noGrp="1"/>
          </p:cNvSpPr>
          <p:nvPr>
            <p:ph type="ftr" sz="quarter" idx="11"/>
          </p:nvPr>
        </p:nvSpPr>
        <p:spPr>
          <a:xfrm>
            <a:off x="457200" y="6481890"/>
            <a:ext cx="4260056" cy="300831"/>
          </a:xfrm>
        </p:spPr>
        <p:txBody>
          <a:bodyPr/>
          <a:lstStyle/>
          <a:p>
            <a:endParaRPr lang="es-CO"/>
          </a:p>
        </p:txBody>
      </p:sp>
      <p:sp>
        <p:nvSpPr>
          <p:cNvPr id="4" name="3 Marcador de número de diapositiva"/>
          <p:cNvSpPr>
            <a:spLocks noGrp="1"/>
          </p:cNvSpPr>
          <p:nvPr>
            <p:ph type="sldNum" sz="quarter" idx="12"/>
          </p:nvPr>
        </p:nvSpPr>
        <p:spPr>
          <a:xfrm>
            <a:off x="7589520" y="6480969"/>
            <a:ext cx="502920" cy="301752"/>
          </a:xfrm>
        </p:spPr>
        <p:txBody>
          <a:bodyPr/>
          <a:lstStyle/>
          <a:p>
            <a:fld id="{4EFE3146-159E-49AF-8992-87F6BCDB602E}" type="slidenum">
              <a:rPr lang="es-CO" smtClean="0"/>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6278976" y="6556248"/>
            <a:ext cx="2133600" cy="301752"/>
          </a:xfrm>
        </p:spPr>
        <p:txBody>
          <a:bodyPr/>
          <a:lstStyle>
            <a:lvl1pPr>
              <a:defRPr sz="900"/>
            </a:lvl1pPr>
          </a:lstStyle>
          <a:p>
            <a:fld id="{EF55604B-4E3D-439B-BA5C-BFF5EB7A5C35}" type="datetimeFigureOut">
              <a:rPr lang="es-CO" smtClean="0"/>
              <a:t>10/02/2016</a:t>
            </a:fld>
            <a:endParaRPr lang="es-CO"/>
          </a:p>
        </p:txBody>
      </p:sp>
      <p:sp>
        <p:nvSpPr>
          <p:cNvPr id="6" name="5 Marcador de pie de página"/>
          <p:cNvSpPr>
            <a:spLocks noGrp="1"/>
          </p:cNvSpPr>
          <p:nvPr>
            <p:ph type="ftr" sz="quarter" idx="11"/>
          </p:nvPr>
        </p:nvSpPr>
        <p:spPr>
          <a:xfrm>
            <a:off x="1135856" y="6556248"/>
            <a:ext cx="5143120" cy="301752"/>
          </a:xfrm>
        </p:spPr>
        <p:txBody>
          <a:bodyPr/>
          <a:lstStyle>
            <a:lvl1pPr>
              <a:defRPr sz="900"/>
            </a:lvl1pPr>
          </a:lstStyle>
          <a:p>
            <a:endParaRPr lang="es-CO"/>
          </a:p>
        </p:txBody>
      </p:sp>
      <p:sp>
        <p:nvSpPr>
          <p:cNvPr id="7" name="6 Marcador de número de diapositiva"/>
          <p:cNvSpPr>
            <a:spLocks noGrp="1"/>
          </p:cNvSpPr>
          <p:nvPr>
            <p:ph type="sldNum" sz="quarter" idx="12"/>
          </p:nvPr>
        </p:nvSpPr>
        <p:spPr>
          <a:xfrm>
            <a:off x="8410576" y="6556248"/>
            <a:ext cx="502920" cy="301752"/>
          </a:xfrm>
        </p:spPr>
        <p:txBody>
          <a:bodyPr/>
          <a:lstStyle>
            <a:lvl1pPr>
              <a:defRPr sz="900"/>
            </a:lvl1pPr>
          </a:lstStyle>
          <a:p>
            <a:fld id="{4EFE3146-159E-49AF-8992-87F6BCDB602E}" type="slidenum">
              <a:rPr lang="es-CO" smtClean="0"/>
              <a:t>‹Nº›</a:t>
            </a:fld>
            <a:endParaRPr lang="es-CO"/>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a:xfrm>
            <a:off x="6108192" y="6556248"/>
            <a:ext cx="2103120" cy="301752"/>
          </a:xfrm>
        </p:spPr>
        <p:txBody>
          <a:bodyPr/>
          <a:lstStyle>
            <a:lvl1pPr>
              <a:defRPr sz="900"/>
            </a:lvl1pPr>
          </a:lstStyle>
          <a:p>
            <a:fld id="{EF55604B-4E3D-439B-BA5C-BFF5EB7A5C35}" type="datetimeFigureOut">
              <a:rPr lang="es-CO" smtClean="0"/>
              <a:t>10/02/2016</a:t>
            </a:fld>
            <a:endParaRPr lang="es-CO"/>
          </a:p>
        </p:txBody>
      </p:sp>
      <p:sp>
        <p:nvSpPr>
          <p:cNvPr id="6" name="5 Marcador de pie de página"/>
          <p:cNvSpPr>
            <a:spLocks noGrp="1"/>
          </p:cNvSpPr>
          <p:nvPr>
            <p:ph type="ftr" sz="quarter" idx="11"/>
          </p:nvPr>
        </p:nvSpPr>
        <p:spPr>
          <a:xfrm>
            <a:off x="1170432" y="6557169"/>
            <a:ext cx="4948072" cy="301752"/>
          </a:xfrm>
        </p:spPr>
        <p:txBody>
          <a:bodyPr/>
          <a:lstStyle>
            <a:lvl1pPr>
              <a:defRPr sz="900"/>
            </a:lvl1pPr>
          </a:lstStyle>
          <a:p>
            <a:endParaRPr lang="es-CO"/>
          </a:p>
        </p:txBody>
      </p:sp>
      <p:sp>
        <p:nvSpPr>
          <p:cNvPr id="7" name="6 Marcador de número de diapositiva"/>
          <p:cNvSpPr>
            <a:spLocks noGrp="1"/>
          </p:cNvSpPr>
          <p:nvPr>
            <p:ph type="sldNum" sz="quarter" idx="12"/>
          </p:nvPr>
        </p:nvSpPr>
        <p:spPr>
          <a:xfrm>
            <a:off x="8217192" y="6556248"/>
            <a:ext cx="365760" cy="301752"/>
          </a:xfrm>
        </p:spPr>
        <p:txBody>
          <a:bodyPr/>
          <a:lstStyle>
            <a:lvl1pPr algn="ctr">
              <a:defRPr sz="900"/>
            </a:lvl1pPr>
          </a:lstStyle>
          <a:p>
            <a:fld id="{4EFE3146-159E-49AF-8992-87F6BCDB602E}" type="slidenum">
              <a:rPr lang="es-CO" smtClean="0"/>
              <a:t>‹Nº›</a:t>
            </a:fld>
            <a:endParaRPr lang="es-CO"/>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EF55604B-4E3D-439B-BA5C-BFF5EB7A5C35}" type="datetimeFigureOut">
              <a:rPr lang="es-CO" smtClean="0"/>
              <a:t>10/02/2016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EFE3146-159E-49AF-8992-87F6BCDB602E}" type="slidenum">
              <a:rPr lang="es-CO" smtClean="0"/>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781800" y="381000"/>
            <a:ext cx="1905000" cy="5486400"/>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381000"/>
            <a:ext cx="6248400" cy="5486400"/>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EF55604B-4E3D-439B-BA5C-BFF5EB7A5C35}" type="datetimeFigureOut">
              <a:rPr lang="es-CO" smtClean="0"/>
              <a:t>10/02/2016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EFE3146-159E-49AF-8992-87F6BCDB602E}" type="slidenum">
              <a:rPr lang="es-CO" smtClean="0"/>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10 Triángulo rectángulo"/>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7 Conector recto"/>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8 Conector recto"/>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21 Marcador de título"/>
          <p:cNvSpPr>
            <a:spLocks noGrp="1"/>
          </p:cNvSpPr>
          <p:nvPr>
            <p:ph type="title"/>
          </p:nvPr>
        </p:nvSpPr>
        <p:spPr>
          <a:xfrm>
            <a:off x="457200" y="267494"/>
            <a:ext cx="8229600" cy="1399032"/>
          </a:xfrm>
          <a:prstGeom prst="rect">
            <a:avLst/>
          </a:prstGeom>
        </p:spPr>
        <p:txBody>
          <a:bodyPr vert="horz" anchor="ctr">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EF55604B-4E3D-439B-BA5C-BFF5EB7A5C35}" type="datetimeFigureOut">
              <a:rPr lang="es-CO" smtClean="0"/>
              <a:t>10/02/2016</a:t>
            </a:fld>
            <a:endParaRPr lang="es-CO"/>
          </a:p>
        </p:txBody>
      </p:sp>
      <p:sp>
        <p:nvSpPr>
          <p:cNvPr id="3" name="2 Marcador de pie de página"/>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s-CO"/>
          </a:p>
        </p:txBody>
      </p:sp>
      <p:sp>
        <p:nvSpPr>
          <p:cNvPr id="23" name="22 Marcador de número de diapositiva"/>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4EFE3146-159E-49AF-8992-87F6BCDB602E}" type="slidenum">
              <a:rPr lang="es-CO" smtClean="0"/>
              <a:t>‹Nº›</a:t>
            </a:fld>
            <a:endParaRPr lang="es-CO"/>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gif"/><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aulas.uniminuto.edu/campus/pregrado/pluginfile.php/171070/mod_assign/intro/Imaginarios%20Atavicos.pdf"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611560" y="692696"/>
            <a:ext cx="7920880" cy="6186309"/>
          </a:xfrm>
          <a:prstGeom prst="rect">
            <a:avLst/>
          </a:prstGeom>
        </p:spPr>
        <p:txBody>
          <a:bodyPr wrap="square">
            <a:spAutoFit/>
          </a:bodyPr>
          <a:lstStyle/>
          <a:p>
            <a:pPr algn="ctr"/>
            <a:r>
              <a:rPr lang="es-CO" b="1" dirty="0" smtClean="0">
                <a:solidFill>
                  <a:schemeClr val="bg1"/>
                </a:solidFill>
                <a:latin typeface="Times New Roman" pitchFamily="18" charset="0"/>
                <a:cs typeface="Times New Roman" pitchFamily="18" charset="0"/>
              </a:rPr>
              <a:t>IMAGINARIOS ATAVICOS</a:t>
            </a:r>
          </a:p>
          <a:p>
            <a:pPr algn="ctr"/>
            <a:r>
              <a:rPr lang="es-CO" b="1" dirty="0" smtClean="0">
                <a:solidFill>
                  <a:schemeClr val="bg1"/>
                </a:solidFill>
                <a:latin typeface="Times New Roman" pitchFamily="18" charset="0"/>
                <a:cs typeface="Times New Roman" pitchFamily="18" charset="0"/>
              </a:rPr>
              <a:t>LA OBEDIENCIA</a:t>
            </a:r>
          </a:p>
          <a:p>
            <a:pPr algn="ctr"/>
            <a:endParaRPr lang="es-CO" b="1" dirty="0">
              <a:solidFill>
                <a:schemeClr val="bg1"/>
              </a:solidFill>
              <a:latin typeface="Times New Roman" pitchFamily="18" charset="0"/>
              <a:cs typeface="Times New Roman" pitchFamily="18" charset="0"/>
            </a:endParaRPr>
          </a:p>
          <a:p>
            <a:pPr algn="ctr"/>
            <a:r>
              <a:rPr lang="es-CO" b="1" dirty="0" smtClean="0">
                <a:solidFill>
                  <a:schemeClr val="bg1"/>
                </a:solidFill>
                <a:latin typeface="Times New Roman" pitchFamily="18" charset="0"/>
                <a:cs typeface="Times New Roman" pitchFamily="18" charset="0"/>
              </a:rPr>
              <a:t>LEONOR BERMON RODRIGUEZ</a:t>
            </a:r>
          </a:p>
          <a:p>
            <a:pPr algn="ctr"/>
            <a:r>
              <a:rPr lang="es-CO" b="1" dirty="0" smtClean="0">
                <a:solidFill>
                  <a:schemeClr val="bg1"/>
                </a:solidFill>
                <a:latin typeface="Times New Roman" pitchFamily="18" charset="0"/>
                <a:cs typeface="Times New Roman" pitchFamily="18" charset="0"/>
              </a:rPr>
              <a:t>ID: 329960</a:t>
            </a:r>
          </a:p>
          <a:p>
            <a:pPr algn="ctr"/>
            <a:r>
              <a:rPr lang="es-CO" b="1" dirty="0" smtClean="0">
                <a:solidFill>
                  <a:schemeClr val="bg1"/>
                </a:solidFill>
                <a:latin typeface="Times New Roman" pitchFamily="18" charset="0"/>
                <a:cs typeface="Times New Roman" pitchFamily="18" charset="0"/>
              </a:rPr>
              <a:t>LAURA GUTIERREZ RODRIGUEZ</a:t>
            </a:r>
          </a:p>
          <a:p>
            <a:pPr algn="ctr"/>
            <a:r>
              <a:rPr lang="es-CO" b="1" dirty="0" smtClean="0">
                <a:solidFill>
                  <a:schemeClr val="bg1"/>
                </a:solidFill>
                <a:latin typeface="Times New Roman" pitchFamily="18" charset="0"/>
                <a:cs typeface="Times New Roman" pitchFamily="18" charset="0"/>
              </a:rPr>
              <a:t>ID:327326</a:t>
            </a:r>
            <a:endParaRPr lang="es-CO" b="1" dirty="0">
              <a:solidFill>
                <a:schemeClr val="bg1"/>
              </a:solidFill>
              <a:latin typeface="Times New Roman" pitchFamily="18" charset="0"/>
              <a:cs typeface="Times New Roman" pitchFamily="18" charset="0"/>
            </a:endParaRPr>
          </a:p>
          <a:p>
            <a:pPr algn="ctr"/>
            <a:endParaRPr lang="es-CO" b="1" dirty="0" smtClean="0">
              <a:solidFill>
                <a:schemeClr val="bg1"/>
              </a:solidFill>
              <a:latin typeface="Times New Roman" pitchFamily="18" charset="0"/>
              <a:cs typeface="Times New Roman" pitchFamily="18" charset="0"/>
            </a:endParaRPr>
          </a:p>
          <a:p>
            <a:pPr algn="ctr"/>
            <a:endParaRPr lang="es-CO" b="1" dirty="0" smtClean="0">
              <a:solidFill>
                <a:schemeClr val="bg1"/>
              </a:solidFill>
              <a:latin typeface="Times New Roman" pitchFamily="18" charset="0"/>
              <a:cs typeface="Times New Roman" pitchFamily="18" charset="0"/>
            </a:endParaRPr>
          </a:p>
          <a:p>
            <a:pPr algn="ctr"/>
            <a:endParaRPr lang="es-CO" b="1" dirty="0">
              <a:solidFill>
                <a:schemeClr val="bg1"/>
              </a:solidFill>
              <a:latin typeface="Times New Roman" pitchFamily="18" charset="0"/>
              <a:cs typeface="Times New Roman" pitchFamily="18" charset="0"/>
            </a:endParaRPr>
          </a:p>
          <a:p>
            <a:pPr algn="ctr"/>
            <a:r>
              <a:rPr lang="es-CO" b="1" dirty="0" smtClean="0">
                <a:solidFill>
                  <a:schemeClr val="bg1"/>
                </a:solidFill>
                <a:latin typeface="Times New Roman" pitchFamily="18" charset="0"/>
                <a:cs typeface="Times New Roman" pitchFamily="18" charset="0"/>
              </a:rPr>
              <a:t>DAVID ALFONSO  GUTIERREZ LOPEZ.</a:t>
            </a:r>
          </a:p>
          <a:p>
            <a:pPr algn="ctr"/>
            <a:endParaRPr lang="es-CO" b="1" dirty="0">
              <a:solidFill>
                <a:schemeClr val="bg1"/>
              </a:solidFill>
              <a:latin typeface="Times New Roman" pitchFamily="18" charset="0"/>
              <a:cs typeface="Times New Roman" pitchFamily="18" charset="0"/>
            </a:endParaRPr>
          </a:p>
          <a:p>
            <a:pPr algn="ctr"/>
            <a:endParaRPr lang="es-CO" b="1" dirty="0" smtClean="0">
              <a:solidFill>
                <a:schemeClr val="bg1"/>
              </a:solidFill>
              <a:latin typeface="Times New Roman" pitchFamily="18" charset="0"/>
              <a:cs typeface="Times New Roman" pitchFamily="18" charset="0"/>
            </a:endParaRPr>
          </a:p>
          <a:p>
            <a:pPr algn="ctr"/>
            <a:endParaRPr lang="es-CO" b="1" dirty="0">
              <a:solidFill>
                <a:schemeClr val="bg1"/>
              </a:solidFill>
              <a:latin typeface="Times New Roman" pitchFamily="18" charset="0"/>
              <a:cs typeface="Times New Roman" pitchFamily="18" charset="0"/>
            </a:endParaRPr>
          </a:p>
          <a:p>
            <a:pPr algn="ctr"/>
            <a:endParaRPr lang="es-CO" b="1" dirty="0" smtClean="0">
              <a:solidFill>
                <a:schemeClr val="bg1"/>
              </a:solidFill>
              <a:latin typeface="Times New Roman" pitchFamily="18" charset="0"/>
              <a:cs typeface="Times New Roman" pitchFamily="18" charset="0"/>
            </a:endParaRPr>
          </a:p>
          <a:p>
            <a:pPr algn="ctr"/>
            <a:endParaRPr lang="es-CO" b="1" dirty="0" smtClean="0">
              <a:solidFill>
                <a:schemeClr val="bg1"/>
              </a:solidFill>
              <a:latin typeface="Times New Roman" pitchFamily="18" charset="0"/>
              <a:cs typeface="Times New Roman" pitchFamily="18" charset="0"/>
            </a:endParaRPr>
          </a:p>
          <a:p>
            <a:pPr algn="ctr"/>
            <a:r>
              <a:rPr lang="es-CO" b="1" dirty="0" smtClean="0">
                <a:solidFill>
                  <a:schemeClr val="bg1"/>
                </a:solidFill>
                <a:latin typeface="Times New Roman" pitchFamily="18" charset="0"/>
                <a:cs typeface="Times New Roman" pitchFamily="18" charset="0"/>
              </a:rPr>
              <a:t>CORPORACION UNIVERSITARIA MINUTO DE DIOS</a:t>
            </a:r>
          </a:p>
          <a:p>
            <a:pPr algn="ctr"/>
            <a:r>
              <a:rPr lang="es-CO" b="1" dirty="0" smtClean="0">
                <a:solidFill>
                  <a:schemeClr val="bg1"/>
                </a:solidFill>
                <a:latin typeface="Times New Roman" pitchFamily="18" charset="0"/>
                <a:cs typeface="Times New Roman" pitchFamily="18" charset="0"/>
              </a:rPr>
              <a:t>FACULTAD DE CIENCIAS Y HUMANIDADES</a:t>
            </a:r>
          </a:p>
          <a:p>
            <a:pPr algn="ctr"/>
            <a:r>
              <a:rPr lang="es-CO" b="1" dirty="0" smtClean="0">
                <a:solidFill>
                  <a:schemeClr val="bg1"/>
                </a:solidFill>
                <a:latin typeface="Times New Roman" pitchFamily="18" charset="0"/>
                <a:cs typeface="Times New Roman" pitchFamily="18" charset="0"/>
              </a:rPr>
              <a:t>PSICOLOGIA</a:t>
            </a:r>
          </a:p>
          <a:p>
            <a:pPr algn="ctr"/>
            <a:r>
              <a:rPr lang="es-CO" b="1" dirty="0">
                <a:solidFill>
                  <a:schemeClr val="bg1"/>
                </a:solidFill>
                <a:latin typeface="Times New Roman" pitchFamily="18" charset="0"/>
                <a:cs typeface="Times New Roman" pitchFamily="18" charset="0"/>
              </a:rPr>
              <a:t> </a:t>
            </a:r>
            <a:r>
              <a:rPr lang="es-CO" b="1" dirty="0" smtClean="0">
                <a:solidFill>
                  <a:schemeClr val="bg1"/>
                </a:solidFill>
                <a:latin typeface="Times New Roman" pitchFamily="18" charset="0"/>
                <a:cs typeface="Times New Roman" pitchFamily="18" charset="0"/>
              </a:rPr>
              <a:t>BOGOTA </a:t>
            </a:r>
          </a:p>
          <a:p>
            <a:pPr algn="ctr"/>
            <a:r>
              <a:rPr lang="es-CO" b="1" dirty="0" smtClean="0">
                <a:solidFill>
                  <a:schemeClr val="bg1"/>
                </a:solidFill>
                <a:latin typeface="Times New Roman" pitchFamily="18" charset="0"/>
                <a:cs typeface="Times New Roman" pitchFamily="18" charset="0"/>
              </a:rPr>
              <a:t>2016</a:t>
            </a:r>
          </a:p>
          <a:p>
            <a:pPr algn="ctr"/>
            <a:endParaRPr lang="es-CO"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404607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Flecha derecha"/>
          <p:cNvSpPr/>
          <p:nvPr/>
        </p:nvSpPr>
        <p:spPr>
          <a:xfrm>
            <a:off x="827584" y="2132856"/>
            <a:ext cx="2232248" cy="28083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smtClean="0">
                <a:solidFill>
                  <a:schemeClr val="bg1"/>
                </a:solidFill>
              </a:rPr>
              <a:t>¿Buena o mala?</a:t>
            </a:r>
            <a:endParaRPr lang="es-CO" b="1" dirty="0">
              <a:solidFill>
                <a:schemeClr val="bg1"/>
              </a:solidFill>
            </a:endParaRPr>
          </a:p>
        </p:txBody>
      </p:sp>
      <p:sp>
        <p:nvSpPr>
          <p:cNvPr id="6" name="5 Rectángulo redondeado"/>
          <p:cNvSpPr/>
          <p:nvPr/>
        </p:nvSpPr>
        <p:spPr>
          <a:xfrm>
            <a:off x="1441511" y="476672"/>
            <a:ext cx="5904656" cy="57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smtClean="0">
                <a:solidFill>
                  <a:schemeClr val="bg1"/>
                </a:solidFill>
              </a:rPr>
              <a:t>LA OBEDIENCIA COMO LÓGICA DE CONSERVACION.</a:t>
            </a:r>
            <a:endParaRPr lang="es-CO" b="1" dirty="0">
              <a:solidFill>
                <a:schemeClr val="bg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1881308"/>
            <a:ext cx="2160241" cy="1655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Título"/>
          <p:cNvSpPr>
            <a:spLocks noGrp="1"/>
          </p:cNvSpPr>
          <p:nvPr>
            <p:ph type="title"/>
          </p:nvPr>
        </p:nvSpPr>
        <p:spPr>
          <a:xfrm>
            <a:off x="3851920" y="4869160"/>
            <a:ext cx="2304255" cy="15845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600" dirty="0" smtClean="0">
                <a:solidFill>
                  <a:schemeClr val="bg1"/>
                </a:solidFill>
                <a:latin typeface="Times room"/>
              </a:rPr>
              <a:t>Buena cuando  conserva la vida</a:t>
            </a:r>
            <a:endParaRPr lang="es-CO" sz="1600" dirty="0">
              <a:solidFill>
                <a:schemeClr val="bg1"/>
              </a:solidFill>
              <a:latin typeface="Times room"/>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168" y="2945825"/>
            <a:ext cx="220027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Explosión 2"/>
          <p:cNvSpPr/>
          <p:nvPr/>
        </p:nvSpPr>
        <p:spPr>
          <a:xfrm>
            <a:off x="7089336" y="1361795"/>
            <a:ext cx="2030121" cy="180020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000" b="1" dirty="0" smtClean="0">
                <a:solidFill>
                  <a:schemeClr val="bg1"/>
                </a:solidFill>
              </a:rPr>
              <a:t>Hijo eres obediente,  ¡Te felicito!</a:t>
            </a:r>
            <a:endParaRPr lang="es-CO" sz="1000" b="1" dirty="0">
              <a:solidFill>
                <a:schemeClr val="bg1"/>
              </a:solidFill>
            </a:endParaRPr>
          </a:p>
        </p:txBody>
      </p:sp>
      <p:cxnSp>
        <p:nvCxnSpPr>
          <p:cNvPr id="13" name="12 Conector angular"/>
          <p:cNvCxnSpPr/>
          <p:nvPr/>
        </p:nvCxnSpPr>
        <p:spPr>
          <a:xfrm>
            <a:off x="4932040" y="3619872"/>
            <a:ext cx="914400" cy="914400"/>
          </a:xfrm>
          <a:prstGeom prst="bentConnector3">
            <a:avLst>
              <a:gd name="adj1" fmla="val 19048"/>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13815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683568" y="271465"/>
            <a:ext cx="7344816" cy="9252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400" b="1" dirty="0" smtClean="0">
                <a:solidFill>
                  <a:schemeClr val="bg1"/>
                </a:solidFill>
              </a:rPr>
              <a:t>LA DESOVEDIENCIA  COMO LÓGICA DE</a:t>
            </a:r>
            <a:br>
              <a:rPr lang="es-CO" sz="2400" b="1" dirty="0" smtClean="0">
                <a:solidFill>
                  <a:schemeClr val="bg1"/>
                </a:solidFill>
              </a:rPr>
            </a:br>
            <a:r>
              <a:rPr lang="es-CO" sz="2400" b="1" dirty="0" smtClean="0">
                <a:solidFill>
                  <a:schemeClr val="bg1"/>
                </a:solidFill>
              </a:rPr>
              <a:t>CONSERVACION</a:t>
            </a:r>
            <a:endParaRPr lang="es-CO" sz="2400" b="1" dirty="0">
              <a:solidFill>
                <a:schemeClr val="bg1"/>
              </a:solidFill>
            </a:endParaRPr>
          </a:p>
        </p:txBody>
      </p:sp>
      <p:sp>
        <p:nvSpPr>
          <p:cNvPr id="5" name="4 Flecha derecha"/>
          <p:cNvSpPr/>
          <p:nvPr/>
        </p:nvSpPr>
        <p:spPr>
          <a:xfrm>
            <a:off x="827584" y="2132856"/>
            <a:ext cx="2232248" cy="28083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smtClean="0">
                <a:solidFill>
                  <a:schemeClr val="bg1"/>
                </a:solidFill>
              </a:rPr>
              <a:t>¿Buena o mala?</a:t>
            </a:r>
            <a:endParaRPr lang="es-CO" b="1" dirty="0">
              <a:solidFill>
                <a:schemeClr val="bg1"/>
              </a:solidFill>
            </a:endParaRPr>
          </a:p>
        </p:txBody>
      </p:sp>
      <p:pic>
        <p:nvPicPr>
          <p:cNvPr id="2050" name="Picture 2" descr="https://encrypted-tbn2.google.com/images?q=tbn:ANd9GcRll9Q07AFepJHD40JLp6pg9bosdnsoc2LA6dxzyNi93L5SpA4zB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1237" y="4055342"/>
            <a:ext cx="2571750" cy="1771651"/>
          </a:xfrm>
          <a:prstGeom prst="rect">
            <a:avLst/>
          </a:prstGeom>
          <a:noFill/>
          <a:extLst>
            <a:ext uri="{909E8E84-426E-40DD-AFC4-6F175D3DCCD1}">
              <a14:hiddenFill xmlns:a14="http://schemas.microsoft.com/office/drawing/2010/main">
                <a:solidFill>
                  <a:srgbClr val="FFFFFF"/>
                </a:solidFill>
              </a14:hiddenFill>
            </a:ext>
          </a:extLst>
        </p:spPr>
      </p:pic>
      <p:sp>
        <p:nvSpPr>
          <p:cNvPr id="7" name="6 Explosión 2"/>
          <p:cNvSpPr/>
          <p:nvPr/>
        </p:nvSpPr>
        <p:spPr>
          <a:xfrm>
            <a:off x="6462866" y="2420888"/>
            <a:ext cx="2030121" cy="180020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b="1" dirty="0" smtClean="0">
                <a:solidFill>
                  <a:schemeClr val="bg1"/>
                </a:solidFill>
              </a:rPr>
              <a:t>Hijo tráeme otra cerveza por  favor</a:t>
            </a:r>
            <a:endParaRPr lang="es-CO" sz="1100" b="1" dirty="0">
              <a:solidFill>
                <a:schemeClr val="bg1"/>
              </a:solidFill>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8055" y="2902339"/>
            <a:ext cx="1842889" cy="2306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9 Explosión 2"/>
          <p:cNvSpPr/>
          <p:nvPr/>
        </p:nvSpPr>
        <p:spPr>
          <a:xfrm>
            <a:off x="4028847" y="1232012"/>
            <a:ext cx="2030121" cy="180020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000" b="1" dirty="0">
                <a:solidFill>
                  <a:schemeClr val="bg1"/>
                </a:solidFill>
              </a:rPr>
              <a:t>¡</a:t>
            </a:r>
            <a:r>
              <a:rPr lang="es-CO" sz="1000" b="1" dirty="0" smtClean="0">
                <a:solidFill>
                  <a:schemeClr val="bg1"/>
                </a:solidFill>
              </a:rPr>
              <a:t>No papá! ¡no quiero!  Con ese dinero  dadnos de comer</a:t>
            </a:r>
            <a:endParaRPr lang="es-CO" sz="1000" b="1" dirty="0">
              <a:solidFill>
                <a:schemeClr val="bg1"/>
              </a:solidFill>
            </a:endParaRPr>
          </a:p>
        </p:txBody>
      </p:sp>
      <p:sp>
        <p:nvSpPr>
          <p:cNvPr id="6" name="5 Cinta perforada"/>
          <p:cNvSpPr/>
          <p:nvPr/>
        </p:nvSpPr>
        <p:spPr>
          <a:xfrm>
            <a:off x="1943708" y="5589240"/>
            <a:ext cx="2916324" cy="804672"/>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b="1" dirty="0" smtClean="0">
                <a:solidFill>
                  <a:schemeClr val="bg1"/>
                </a:solidFill>
              </a:rPr>
              <a:t>Buena cuando conserva la vida.</a:t>
            </a:r>
            <a:endParaRPr lang="es-CO" sz="1400" b="1" dirty="0">
              <a:solidFill>
                <a:schemeClr val="bg1"/>
              </a:solidFill>
            </a:endParaRPr>
          </a:p>
        </p:txBody>
      </p:sp>
    </p:spTree>
    <p:extLst>
      <p:ext uri="{BB962C8B-B14F-4D97-AF65-F5344CB8AC3E}">
        <p14:creationId xmlns:p14="http://schemas.microsoft.com/office/powerpoint/2010/main" val="25922406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114802"/>
            <a:ext cx="3333750" cy="2295525"/>
          </a:xfrm>
          <a:prstGeom prst="rect">
            <a:avLst/>
          </a:prstGeom>
        </p:spPr>
      </p:pic>
      <p:sp>
        <p:nvSpPr>
          <p:cNvPr id="7" name="6 Nube"/>
          <p:cNvSpPr/>
          <p:nvPr/>
        </p:nvSpPr>
        <p:spPr>
          <a:xfrm>
            <a:off x="3894872" y="1326459"/>
            <a:ext cx="3629455" cy="208386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b="1" dirty="0" smtClean="0">
                <a:solidFill>
                  <a:schemeClr val="bg1"/>
                </a:solidFill>
              </a:rPr>
              <a:t>La niña como podemos observar en la imagen, practica la obediencia en su hogar, ya que cuando su madre le dice que cumplas con las tareas del colegio ella lo hace, con ayuda de su madre.</a:t>
            </a:r>
            <a:endParaRPr lang="es-CO" sz="1200" b="1" dirty="0">
              <a:solidFill>
                <a:schemeClr val="bg1"/>
              </a:solidFill>
            </a:endParaRPr>
          </a:p>
        </p:txBody>
      </p:sp>
      <p:sp>
        <p:nvSpPr>
          <p:cNvPr id="5" name="4 CuadroTexto"/>
          <p:cNvSpPr txBox="1"/>
          <p:nvPr/>
        </p:nvSpPr>
        <p:spPr>
          <a:xfrm>
            <a:off x="514300" y="404664"/>
            <a:ext cx="6577980" cy="584775"/>
          </a:xfrm>
          <a:prstGeom prst="rect">
            <a:avLst/>
          </a:prstGeom>
          <a:solidFill>
            <a:schemeClr val="accent1"/>
          </a:solidFill>
        </p:spPr>
        <p:txBody>
          <a:bodyPr wrap="square" rtlCol="0">
            <a:spAutoFit/>
          </a:bodyPr>
          <a:lstStyle/>
          <a:p>
            <a:r>
              <a:rPr lang="es-CO" sz="1600" b="1" dirty="0" smtClean="0">
                <a:solidFill>
                  <a:schemeClr val="bg1"/>
                </a:solidFill>
              </a:rPr>
              <a:t>Territorio escogido el hogar, es allí donde se presentan mas casos de obediencia y desobediencia</a:t>
            </a:r>
            <a:r>
              <a:rPr lang="es-CO" sz="1600" dirty="0" smtClean="0">
                <a:solidFill>
                  <a:schemeClr val="bg1"/>
                </a:solidFill>
              </a:rPr>
              <a:t>. </a:t>
            </a:r>
            <a:endParaRPr lang="es-CO" sz="1600" dirty="0">
              <a:solidFill>
                <a:schemeClr val="bg1"/>
              </a:solidFill>
            </a:endParaRPr>
          </a:p>
        </p:txBody>
      </p:sp>
      <p:cxnSp>
        <p:nvCxnSpPr>
          <p:cNvPr id="9" name="8 Conector recto de flecha"/>
          <p:cNvCxnSpPr/>
          <p:nvPr/>
        </p:nvCxnSpPr>
        <p:spPr>
          <a:xfrm flipH="1">
            <a:off x="3347864" y="2132856"/>
            <a:ext cx="45542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Nube"/>
          <p:cNvSpPr/>
          <p:nvPr/>
        </p:nvSpPr>
        <p:spPr>
          <a:xfrm>
            <a:off x="507633" y="3933056"/>
            <a:ext cx="3600400" cy="2448272"/>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b="1" dirty="0" smtClean="0">
                <a:solidFill>
                  <a:schemeClr val="bg1"/>
                </a:solidFill>
              </a:rPr>
              <a:t>En la siguiente imagen podemos observar como algunos niños no acatan ordenes, desobedeciendo e incumpliendo las ordenes dadas por los adultos</a:t>
            </a:r>
            <a:endParaRPr lang="es-CO" sz="1400" b="1" dirty="0">
              <a:solidFill>
                <a:schemeClr val="bg1"/>
              </a:solidFill>
            </a:endParaRPr>
          </a:p>
        </p:txBody>
      </p:sp>
      <p:pic>
        <p:nvPicPr>
          <p:cNvPr id="1028" name="Picture 4" descr="http://4.bp.blogspot.com/-T4gtgwESWI0/Vaqz2idWQfI/AAAAAAAAWZE/MrQ3aZsOxgw/s1600/a1400%2BA-veces-me-sacan-de-mis-casilla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3645024"/>
            <a:ext cx="3370535" cy="2486707"/>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12 Conector recto de flecha"/>
          <p:cNvCxnSpPr/>
          <p:nvPr/>
        </p:nvCxnSpPr>
        <p:spPr>
          <a:xfrm>
            <a:off x="4355976" y="4888377"/>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99129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REFERENCIAS</a:t>
            </a:r>
            <a:endParaRPr lang="es-CO" dirty="0"/>
          </a:p>
        </p:txBody>
      </p:sp>
      <p:sp>
        <p:nvSpPr>
          <p:cNvPr id="3" name="2 Marcador de texto"/>
          <p:cNvSpPr>
            <a:spLocks noGrp="1"/>
          </p:cNvSpPr>
          <p:nvPr>
            <p:ph type="body" idx="1"/>
          </p:nvPr>
        </p:nvSpPr>
        <p:spPr>
          <a:xfrm>
            <a:off x="381000" y="1633536"/>
            <a:ext cx="7575376" cy="4675784"/>
          </a:xfrm>
        </p:spPr>
        <p:txBody>
          <a:bodyPr/>
          <a:lstStyle/>
          <a:p>
            <a:r>
              <a:rPr lang="es-CO" dirty="0" smtClean="0">
                <a:solidFill>
                  <a:schemeClr val="tx1"/>
                </a:solidFill>
              </a:rPr>
              <a:t>Martínez, C. 2002. Imaginarios atávicos. Cartilla conflictos. Recuperado 09 </a:t>
            </a:r>
            <a:r>
              <a:rPr lang="es-CO" dirty="0">
                <a:solidFill>
                  <a:schemeClr val="tx1"/>
                </a:solidFill>
              </a:rPr>
              <a:t>de febrero de 2016 de </a:t>
            </a:r>
            <a:r>
              <a:rPr lang="es-CO" dirty="0">
                <a:solidFill>
                  <a:schemeClr val="tx1"/>
                </a:solidFill>
                <a:hlinkClick r:id="rId2"/>
              </a:rPr>
              <a:t>http://</a:t>
            </a:r>
            <a:r>
              <a:rPr lang="es-CO" dirty="0" smtClean="0">
                <a:solidFill>
                  <a:schemeClr val="tx1"/>
                </a:solidFill>
                <a:hlinkClick r:id="rId2"/>
              </a:rPr>
              <a:t>aulas.uniminuto.edu/campus/pregrado/pluginfile.php/171070/mod_assign/intro/Imaginarios%20Atavicos.pdf</a:t>
            </a:r>
            <a:r>
              <a:rPr lang="es-CO" dirty="0" smtClean="0">
                <a:solidFill>
                  <a:schemeClr val="tx1"/>
                </a:solidFill>
              </a:rPr>
              <a:t> </a:t>
            </a:r>
            <a:endParaRPr lang="es-CO" dirty="0">
              <a:solidFill>
                <a:schemeClr val="tx1"/>
              </a:solidFill>
            </a:endParaRPr>
          </a:p>
        </p:txBody>
      </p:sp>
    </p:spTree>
    <p:extLst>
      <p:ext uri="{BB962C8B-B14F-4D97-AF65-F5344CB8AC3E}">
        <p14:creationId xmlns:p14="http://schemas.microsoft.com/office/powerpoint/2010/main" val="311832186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ío">
  <a:themeElements>
    <a:clrScheme name="Brío">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Brí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río">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261</TotalTime>
  <Words>196</Words>
  <Application>Microsoft Office PowerPoint</Application>
  <PresentationFormat>Presentación en pantalla (4:3)</PresentationFormat>
  <Paragraphs>35</Paragraphs>
  <Slides>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vt:i4>
      </vt:variant>
    </vt:vector>
  </HeadingPairs>
  <TitlesOfParts>
    <vt:vector size="11" baseType="lpstr">
      <vt:lpstr>Century Gothic</vt:lpstr>
      <vt:lpstr>Times New Roman</vt:lpstr>
      <vt:lpstr>Times room</vt:lpstr>
      <vt:lpstr>Verdana</vt:lpstr>
      <vt:lpstr>Wingdings 2</vt:lpstr>
      <vt:lpstr>Brío</vt:lpstr>
      <vt:lpstr>Presentación de PowerPoint</vt:lpstr>
      <vt:lpstr>Buena cuando  conserva la vida</vt:lpstr>
      <vt:lpstr>LA DESOVEDIENCIA  COMO LÓGICA DE CONSERVACION</vt:lpstr>
      <vt:lpstr>Presentación de PowerPoint</vt:lpstr>
      <vt:lpstr>REFERENCIAS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IBERMON</dc:creator>
  <cp:lastModifiedBy>Eduardo</cp:lastModifiedBy>
  <cp:revision>19</cp:revision>
  <dcterms:created xsi:type="dcterms:W3CDTF">2016-02-09T20:21:44Z</dcterms:created>
  <dcterms:modified xsi:type="dcterms:W3CDTF">2016-02-10T16:57:44Z</dcterms:modified>
</cp:coreProperties>
</file>